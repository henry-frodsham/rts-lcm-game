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8" r:id="rId3"/>
    <p:sldId id="270" r:id="rId4"/>
    <p:sldId id="261" r:id="rId5"/>
    <p:sldId id="257" r:id="rId6"/>
    <p:sldId id="262" r:id="rId7"/>
    <p:sldId id="268" r:id="rId8"/>
    <p:sldId id="263" r:id="rId9"/>
    <p:sldId id="265" r:id="rId10"/>
    <p:sldId id="266" r:id="rId11"/>
    <p:sldId id="267" r:id="rId12"/>
    <p:sldId id="264" r:id="rId13"/>
    <p:sldId id="26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59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46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757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34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12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38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70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42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93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19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999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0045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545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44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305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742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44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BF12ED9-0777-4B04-BE13-DED9E716DBE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AAD7546-8E22-4412-BAA5-48F7F1346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394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0B19-EA27-C5A9-0A79-1145C7720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Henry Frodsham BSc FYP 2025-26</a:t>
            </a:r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7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6D9F-D07D-4740-DECB-C42A6405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badi" panose="020B0604020104020204" pitchFamily="34" charset="0"/>
              </a:rPr>
              <a:t>Why concurrency matters in game development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AA111-6C11-C444-9DC0-D077CA4F0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badi" panose="020B0604020104020204" pitchFamily="34" charset="0"/>
              </a:rPr>
              <a:t>Responsiveness</a:t>
            </a:r>
            <a:r>
              <a:rPr lang="en-US" sz="2400" dirty="0">
                <a:latin typeface="Abadi" panose="020B0604020104020204" pitchFamily="34" charset="0"/>
              </a:rPr>
              <a:t>: Keeps UI and input smooth during performance-intensive operations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Performance</a:t>
            </a:r>
            <a:r>
              <a:rPr lang="en-US" sz="2400" dirty="0">
                <a:latin typeface="Abadi" panose="020B0604020104020204" pitchFamily="34" charset="0"/>
              </a:rPr>
              <a:t>: Parallelizes game logic across threads for faster execution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Hardware Utilization</a:t>
            </a:r>
            <a:r>
              <a:rPr lang="en-US" sz="2400" dirty="0">
                <a:latin typeface="Abadi" panose="020B0604020104020204" pitchFamily="34" charset="0"/>
              </a:rPr>
              <a:t>: Leverages modern multi-core CPUs that would otherwise sit idle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Scalability</a:t>
            </a:r>
            <a:r>
              <a:rPr lang="en-US" sz="2400" dirty="0">
                <a:latin typeface="Abadi" panose="020B0604020104020204" pitchFamily="34" charset="0"/>
              </a:rPr>
              <a:t>: Enables games to handle more entities, complex AI, and detailed physics simulations simultaneously</a:t>
            </a:r>
            <a:endParaRPr lang="en-GB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0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2806-2F42-BD27-D3F7-1A62A23FD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Why I chose this project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27EE3-3C3A-AAB2-B05B-2037E00F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badi" panose="020B0604020104020204" pitchFamily="34" charset="0"/>
              </a:rPr>
              <a:t>Split screen rarity in RTS genre: </a:t>
            </a:r>
            <a:r>
              <a:rPr lang="en-US" sz="2400" dirty="0">
                <a:latin typeface="Abadi" panose="020B0604020104020204" pitchFamily="34" charset="0"/>
              </a:rPr>
              <a:t>all major studios producing real time strategy games don’t implement split screen e.g. paradox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Slow performance of major RTS games: </a:t>
            </a:r>
            <a:r>
              <a:rPr lang="en-US" sz="2400" dirty="0">
                <a:latin typeface="Abadi" panose="020B0604020104020204" pitchFamily="34" charset="0"/>
              </a:rPr>
              <a:t>slow performance is a common theme among popular real time strategy games such as stellaris. Most RTS games aren’t optimized for long saves.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 lack of efficient concurrency: </a:t>
            </a:r>
            <a:r>
              <a:rPr lang="en-US" sz="2400" dirty="0">
                <a:latin typeface="Abadi" panose="020B0604020104020204" pitchFamily="34" charset="0"/>
              </a:rPr>
              <a:t>while most real time strategy games are closed source, open source RTS games such as </a:t>
            </a:r>
            <a:r>
              <a:rPr lang="en-US" sz="2400" dirty="0" err="1">
                <a:latin typeface="Abadi" panose="020B0604020104020204" pitchFamily="34" charset="0"/>
              </a:rPr>
              <a:t>openfront</a:t>
            </a:r>
            <a:r>
              <a:rPr lang="en-US" sz="2400" dirty="0">
                <a:latin typeface="Abadi" panose="020B0604020104020204" pitchFamily="34" charset="0"/>
              </a:rPr>
              <a:t> don’t implement multi threading and suffer from lack of input responsiveness as a result.</a:t>
            </a:r>
            <a:endParaRPr lang="en-GB" sz="2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44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3931-18B6-C022-412D-D9556F47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An overview of my project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4F512-C0E6-D180-A685-5F0C8A9C9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badi" panose="020B0604020104020204" pitchFamily="34" charset="0"/>
              </a:rPr>
              <a:t>Genre</a:t>
            </a:r>
            <a:r>
              <a:rPr lang="en-US" sz="2400" dirty="0">
                <a:latin typeface="Abadi" panose="020B0604020104020204" pitchFamily="34" charset="0"/>
              </a:rPr>
              <a:t>: Real-time strategy with split-screen multiplayer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Country based: </a:t>
            </a:r>
            <a:r>
              <a:rPr lang="en-US" sz="2400" dirty="0">
                <a:latin typeface="Abadi" panose="020B0604020104020204" pitchFamily="34" charset="0"/>
              </a:rPr>
              <a:t>the classic strategy formula of multiple countries competing </a:t>
            </a:r>
            <a:endParaRPr lang="en-US" sz="2400" b="1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Performance focus: </a:t>
            </a:r>
            <a:r>
              <a:rPr lang="en-US" sz="2400" dirty="0">
                <a:latin typeface="Abadi" panose="020B0604020104020204" pitchFamily="34" charset="0"/>
              </a:rPr>
              <a:t>optimized for longer games with more units on the screen</a:t>
            </a:r>
            <a:endParaRPr lang="en-US" sz="2400" b="1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Local Multiplayer</a:t>
            </a:r>
            <a:r>
              <a:rPr lang="en-US" sz="2400" dirty="0">
                <a:latin typeface="Abadi" panose="020B0604020104020204" pitchFamily="34" charset="0"/>
              </a:rPr>
              <a:t>: Supports up to 5 players (1 keyboard + 4 controllers)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Split screen with birds eye view: </a:t>
            </a:r>
            <a:r>
              <a:rPr lang="en-US" sz="2400" dirty="0">
                <a:latin typeface="Abadi" panose="020B0604020104020204" pitchFamily="34" charset="0"/>
              </a:rPr>
              <a:t>each player has a dedicated portion of the screen with a bird's eye view of the game world</a:t>
            </a:r>
            <a:endParaRPr lang="en-US" sz="2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7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2100-9E31-C725-4173-D6551AFD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1830"/>
            <a:ext cx="10353762" cy="97045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The technical aspects of my project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59AF-1579-F262-D689-CB5D6F1ED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65" y="1351429"/>
            <a:ext cx="11268635" cy="53721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badi" panose="020B0604020104020204" pitchFamily="34" charset="0"/>
              </a:rPr>
              <a:t>Programming language: </a:t>
            </a:r>
            <a:r>
              <a:rPr lang="en-US" sz="2400" dirty="0">
                <a:latin typeface="Abadi" panose="020B0604020104020204" pitchFamily="34" charset="0"/>
              </a:rPr>
              <a:t>C++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Graphics engine: </a:t>
            </a:r>
            <a:r>
              <a:rPr lang="en-US" sz="2400" dirty="0">
                <a:latin typeface="Abadi" panose="020B0604020104020204" pitchFamily="34" charset="0"/>
              </a:rPr>
              <a:t>Ogre3d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Concurrency focus: </a:t>
            </a:r>
            <a:r>
              <a:rPr lang="en-US" sz="2400" dirty="0">
                <a:latin typeface="Abadi" panose="020B0604020104020204" pitchFamily="34" charset="0"/>
              </a:rPr>
              <a:t>each player has their own game instance running simultaneously using threads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Event architecture: </a:t>
            </a:r>
            <a:r>
              <a:rPr lang="en-US" sz="2400" dirty="0">
                <a:latin typeface="Abadi" panose="020B0604020104020204" pitchFamily="34" charset="0"/>
              </a:rPr>
              <a:t>game instances communicate using events in conjunction with event queues to avoid race conditions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Entity storage: </a:t>
            </a:r>
            <a:r>
              <a:rPr lang="en-US" sz="2400" dirty="0">
                <a:latin typeface="Abadi" panose="020B0604020104020204" pitchFamily="34" charset="0"/>
              </a:rPr>
              <a:t>ECS (entity component system) used for both storage and managing modular behavior of entities</a:t>
            </a:r>
          </a:p>
          <a:p>
            <a:r>
              <a:rPr lang="en-US" sz="2400" b="1" dirty="0">
                <a:latin typeface="Abadi" panose="020B0604020104020204" pitchFamily="34" charset="0"/>
              </a:rPr>
              <a:t>Input handling: </a:t>
            </a:r>
            <a:r>
              <a:rPr lang="en-US" sz="2400" dirty="0">
                <a:latin typeface="Abadi" panose="020B0604020104020204" pitchFamily="34" charset="0"/>
              </a:rPr>
              <a:t>SDL2 (software direct media layer) to read and distinguish multiple input devices</a:t>
            </a:r>
            <a:endParaRPr lang="en-US" sz="2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17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351C-5813-7CE5-BB49-770C13723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0044"/>
            <a:ext cx="10353762" cy="97045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What’s already implemented?</a:t>
            </a:r>
            <a:endParaRPr lang="en-GB" dirty="0">
              <a:latin typeface="Abadi" panose="020B0604020104020204" pitchFamily="34" charset="0"/>
            </a:endParaRPr>
          </a:p>
        </p:txBody>
      </p:sp>
      <p:pic>
        <p:nvPicPr>
          <p:cNvPr id="10" name="Content Placeholder 9" descr="A colorful fish on a black background&#10;&#10;AI-generated content may be incorrect.">
            <a:extLst>
              <a:ext uri="{FF2B5EF4-FFF2-40B4-BE49-F238E27FC236}">
                <a16:creationId xmlns:a16="http://schemas.microsoft.com/office/drawing/2014/main" id="{B94B7E75-0247-8C2F-3C4D-96CADA648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9" y="2078250"/>
            <a:ext cx="5927451" cy="333419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F71B0-ABC0-C6BE-2E0A-41A1447A19F2}"/>
              </a:ext>
            </a:extLst>
          </p:cNvPr>
          <p:cNvSpPr txBox="1"/>
          <p:nvPr/>
        </p:nvSpPr>
        <p:spPr>
          <a:xfrm>
            <a:off x="6225125" y="1320494"/>
            <a:ext cx="601755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Input handling: </a:t>
            </a:r>
            <a:r>
              <a:rPr lang="en-US" sz="2400" dirty="0">
                <a:latin typeface="Abadi" panose="020B0604020104020204" pitchFamily="34" charset="0"/>
              </a:rPr>
              <a:t>all devices currently plugged in are recognized and read</a:t>
            </a:r>
            <a:endParaRPr lang="en-US" sz="2400" b="1" dirty="0">
              <a:latin typeface="Abadi" panose="020B06040201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Split screen: </a:t>
            </a:r>
            <a:r>
              <a:rPr lang="en-US" sz="2400" dirty="0">
                <a:latin typeface="Abadi" panose="020B0604020104020204" pitchFamily="34" charset="0"/>
              </a:rPr>
              <a:t>Each input device is assigned a portion of the screen </a:t>
            </a:r>
          </a:p>
          <a:p>
            <a:pPr marL="285750" indent="-285750"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Disconnect handling: </a:t>
            </a:r>
            <a:r>
              <a:rPr lang="en-US" sz="2400" dirty="0">
                <a:latin typeface="Abadi" panose="020B0604020104020204" pitchFamily="34" charset="0"/>
              </a:rPr>
              <a:t>controllers that are unplugged are automatically reconnected to the correct game instance once plugged back in</a:t>
            </a:r>
            <a:endParaRPr lang="en-US" sz="2400" b="1" dirty="0">
              <a:latin typeface="Abadi" panose="020B06040201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Separate camera control: </a:t>
            </a:r>
            <a:r>
              <a:rPr lang="en-US" sz="2400" dirty="0">
                <a:latin typeface="Abadi" panose="020B0604020104020204" pitchFamily="34" charset="0"/>
              </a:rPr>
              <a:t>each device controls the perspective on the assigned portion of the screen</a:t>
            </a:r>
            <a:endParaRPr lang="en-US" sz="2400" b="1" dirty="0">
              <a:latin typeface="Abadi" panose="020B06040201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Entity storage: </a:t>
            </a:r>
            <a:r>
              <a:rPr lang="en-US" sz="2400" dirty="0">
                <a:latin typeface="Abadi" panose="020B0604020104020204" pitchFamily="34" charset="0"/>
              </a:rPr>
              <a:t>the cube visible on the screen is stored using ECS</a:t>
            </a:r>
            <a:endParaRPr lang="en-US" sz="2400" b="1" dirty="0">
              <a:latin typeface="Abadi" panose="020B0604020104020204" pitchFamily="34" charset="0"/>
            </a:endParaRPr>
          </a:p>
          <a:p>
            <a:pPr marL="285750" indent="-2857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499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422B-7C93-4701-1358-BA3B6EBC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802"/>
            <a:ext cx="10515600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How I’ve implemented concurrency in my project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0E250-B298-59BB-4FEF-5541BFC09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78530"/>
            <a:ext cx="498437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Abadi" panose="020B0604020104020204" pitchFamily="34" charset="0"/>
              </a:rPr>
              <a:t>Key points:</a:t>
            </a:r>
          </a:p>
          <a:p>
            <a:pPr marL="0" indent="0">
              <a:buNone/>
            </a:pPr>
            <a:r>
              <a:rPr lang="en-US" sz="2400" b="1" dirty="0">
                <a:latin typeface="Abadi" panose="020B0604020104020204" pitchFamily="34" charset="0"/>
              </a:rPr>
              <a:t>Message Queue pattern: </a:t>
            </a:r>
            <a:r>
              <a:rPr lang="en-US" sz="2400" dirty="0">
                <a:latin typeface="Abadi" panose="020B0604020104020204" pitchFamily="34" charset="0"/>
              </a:rPr>
              <a:t>non thread safe tasks are sent to </a:t>
            </a:r>
            <a:r>
              <a:rPr lang="en-US" sz="2400" dirty="0" err="1">
                <a:latin typeface="Abadi" panose="020B0604020104020204" pitchFamily="34" charset="0"/>
              </a:rPr>
              <a:t>InstanceOverseer</a:t>
            </a:r>
            <a:r>
              <a:rPr lang="en-US" sz="2400" dirty="0">
                <a:latin typeface="Abadi" panose="020B0604020104020204" pitchFamily="34" charset="0"/>
              </a:rPr>
              <a:t> to run in the main application thread </a:t>
            </a:r>
          </a:p>
          <a:p>
            <a:pPr marL="0" indent="0">
              <a:buNone/>
            </a:pPr>
            <a:br>
              <a:rPr lang="en-US" sz="2400" dirty="0">
                <a:latin typeface="Abadi" panose="020B0604020104020204" pitchFamily="34" charset="0"/>
              </a:rPr>
            </a:br>
            <a:r>
              <a:rPr lang="en-US" sz="2400" b="1" dirty="0">
                <a:latin typeface="Abadi" panose="020B0604020104020204" pitchFamily="34" charset="0"/>
              </a:rPr>
              <a:t>Mutex locks: </a:t>
            </a:r>
            <a:r>
              <a:rPr lang="en-US" sz="2400" dirty="0">
                <a:latin typeface="Abadi" panose="020B0604020104020204" pitchFamily="34" charset="0"/>
              </a:rPr>
              <a:t>mutex locks are used on the commonly used event bus and event queue functions e.g. enqueue to prevent race conditions from occurring when accessing the queues</a:t>
            </a:r>
            <a:endParaRPr lang="en-GB" sz="2400" b="1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6F3E9-BE0E-0D95-08C3-FC32346A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9454"/>
            <a:ext cx="4363428" cy="47985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E3751C-E685-53E4-16D1-3D2F35DBF94D}"/>
              </a:ext>
            </a:extLst>
          </p:cNvPr>
          <p:cNvSpPr txBox="1"/>
          <p:nvPr/>
        </p:nvSpPr>
        <p:spPr>
          <a:xfrm>
            <a:off x="1540737" y="1043791"/>
            <a:ext cx="29583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badi" panose="020B0604020104020204" pitchFamily="34" charset="0"/>
              </a:rPr>
              <a:t>Example: camera control in a game instance thread</a:t>
            </a:r>
            <a:endParaRPr lang="en-GB" sz="20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97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8104-876E-E9FC-4A7F-E152A0C8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2673"/>
            <a:ext cx="10353762" cy="97045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Major technologies I’ve used - ECS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14D4-3F41-0DB1-6EEC-800507D5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085" y="1632032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	What is ECS?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sz="2400" dirty="0">
                <a:latin typeface="Abadi" panose="020B0604020104020204" pitchFamily="34" charset="0"/>
              </a:rPr>
            </a:br>
            <a:r>
              <a:rPr lang="en-US" sz="2400" dirty="0">
                <a:latin typeface="Abadi" panose="020B0604020104020204" pitchFamily="34" charset="0"/>
              </a:rPr>
              <a:t>- ECS (entity component system) is a method of storing data, separated into entities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- Each entity is separated into components which can be added or removed at any time</a:t>
            </a:r>
            <a:br>
              <a:rPr lang="en-US" sz="2400" dirty="0"/>
            </a:b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7F3C4-960D-BC81-6AB2-FE1F402F9712}"/>
              </a:ext>
            </a:extLst>
          </p:cNvPr>
          <p:cNvSpPr txBox="1"/>
          <p:nvPr/>
        </p:nvSpPr>
        <p:spPr>
          <a:xfrm>
            <a:off x="5492885" y="1632032"/>
            <a:ext cx="635540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	</a:t>
            </a:r>
            <a:r>
              <a:rPr lang="en-US" sz="2800" dirty="0">
                <a:latin typeface="Abadi" panose="020B0604020104020204" pitchFamily="34" charset="0"/>
              </a:rPr>
              <a:t>	</a:t>
            </a:r>
            <a:r>
              <a:rPr lang="en-US" sz="2800" b="1" dirty="0">
                <a:latin typeface="Abadi" panose="020B0604020104020204" pitchFamily="34" charset="0"/>
              </a:rPr>
              <a:t>why ECS?</a:t>
            </a:r>
          </a:p>
          <a:p>
            <a:br>
              <a:rPr lang="en-US" sz="2800" b="1" dirty="0">
                <a:latin typeface="Abadi" panose="020B0604020104020204" pitchFamily="34" charset="0"/>
              </a:rPr>
            </a:br>
            <a:r>
              <a:rPr lang="en-US" sz="2800" dirty="0">
                <a:latin typeface="Abadi" panose="020B0604020104020204" pitchFamily="34" charset="0"/>
              </a:rPr>
              <a:t>- </a:t>
            </a:r>
            <a:r>
              <a:rPr lang="en-US" sz="2800" b="1" dirty="0">
                <a:latin typeface="Abadi" panose="020B0604020104020204" pitchFamily="34" charset="0"/>
              </a:rPr>
              <a:t> fast operations: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time complexity of O(1) for component and entity operations</a:t>
            </a:r>
            <a:br>
              <a:rPr lang="en-US" sz="2800" dirty="0">
                <a:latin typeface="Abadi" panose="020B0604020104020204" pitchFamily="34" charset="0"/>
              </a:rPr>
            </a:br>
            <a:r>
              <a:rPr lang="en-US" sz="2800" dirty="0">
                <a:latin typeface="Abadi" panose="020B0604020104020204" pitchFamily="34" charset="0"/>
              </a:rPr>
              <a:t>-  </a:t>
            </a:r>
            <a:r>
              <a:rPr lang="en-US" sz="2800" b="1" dirty="0">
                <a:latin typeface="Abadi" panose="020B0604020104020204" pitchFamily="34" charset="0"/>
              </a:rPr>
              <a:t>entity grouping: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allows similar entities to be stored contiguously for cache efficiency</a:t>
            </a:r>
            <a:br>
              <a:rPr lang="en-US" sz="2800" dirty="0">
                <a:latin typeface="Abadi" panose="020B0604020104020204" pitchFamily="34" charset="0"/>
              </a:rPr>
            </a:br>
            <a:r>
              <a:rPr lang="en-US" sz="2800" dirty="0">
                <a:latin typeface="Abadi" panose="020B0604020104020204" pitchFamily="34" charset="0"/>
              </a:rPr>
              <a:t>-  </a:t>
            </a:r>
            <a:r>
              <a:rPr lang="en-US" sz="2800" b="1" dirty="0">
                <a:latin typeface="Abadi" panose="020B0604020104020204" pitchFamily="34" charset="0"/>
              </a:rPr>
              <a:t>modular behavior: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each entities     behavior can be changed by adding or removing a component</a:t>
            </a:r>
            <a:br>
              <a:rPr lang="en-US" sz="2800" dirty="0">
                <a:latin typeface="Abadi" panose="020B0604020104020204" pitchFamily="34" charset="0"/>
              </a:rPr>
            </a:br>
            <a:br>
              <a:rPr lang="en-US" sz="2800" dirty="0">
                <a:latin typeface="Abadi" panose="020B0604020104020204" pitchFamily="34" charset="0"/>
              </a:rPr>
            </a:br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24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D057-1A76-43BD-4580-9F718407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90" y="-33310"/>
            <a:ext cx="10515600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example of how I use ECS in my project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43C9A-1B25-BA2F-EF0D-ACCECCBC6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61" y="1308908"/>
            <a:ext cx="4522599" cy="1650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badi" panose="020B0604020104020204" pitchFamily="34" charset="0"/>
              </a:rPr>
              <a:t>Creation of the example cube</a:t>
            </a:r>
            <a:endParaRPr lang="en-GB" sz="2400" b="1" dirty="0"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D8501-6259-3DFF-FD8E-F273A202FB48}"/>
              </a:ext>
            </a:extLst>
          </p:cNvPr>
          <p:cNvSpPr txBox="1"/>
          <p:nvPr/>
        </p:nvSpPr>
        <p:spPr>
          <a:xfrm>
            <a:off x="7809835" y="1292253"/>
            <a:ext cx="3975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badi" panose="020B0604020104020204" pitchFamily="34" charset="0"/>
              </a:rPr>
              <a:t>Key points</a:t>
            </a:r>
            <a:endParaRPr lang="en-GB" sz="2800" b="1" dirty="0">
              <a:latin typeface="Abadi" panose="020B06040201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9CDAC8-A2F3-3C4C-C6EF-2BB3D1D92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84" y="1815473"/>
            <a:ext cx="5583006" cy="4891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590BCA-39AA-689E-3C7B-EA2E0100C561}"/>
              </a:ext>
            </a:extLst>
          </p:cNvPr>
          <p:cNvSpPr txBox="1"/>
          <p:nvPr/>
        </p:nvSpPr>
        <p:spPr>
          <a:xfrm>
            <a:off x="6913695" y="1926580"/>
            <a:ext cx="385930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badi" panose="020B06040201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Abadi" panose="020B0604020104020204" pitchFamily="34" charset="0"/>
              </a:rPr>
              <a:t>Pointers to important data or objects are stored in each component. Allowing for easy access when iterating over entities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Abadi" panose="020B06040201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Abadi" panose="020B0604020104020204" pitchFamily="34" charset="0"/>
              </a:rPr>
              <a:t>the ECS entity is created first then subsequent events add components to the same entity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513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7429-34F6-0AB8-B55A-D1F16671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2374"/>
            <a:ext cx="10353762" cy="97045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Major technologies I’ve used – SDL2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E706C-D5D8-C6AB-669C-DD0BA3DD4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3153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Abadi" panose="020B0604020104020204" pitchFamily="34" charset="0"/>
              </a:rPr>
              <a:t>What is SDL2</a:t>
            </a:r>
          </a:p>
          <a:p>
            <a:pPr>
              <a:buFontTx/>
              <a:buChar char="-"/>
            </a:pPr>
            <a:r>
              <a:rPr lang="en-US" sz="2400" dirty="0">
                <a:latin typeface="Abadi" panose="020B0604020104020204" pitchFamily="34" charset="0"/>
              </a:rPr>
              <a:t>SDL (simple direct media layer) is a C++ library that provides a layer of abstraction to hardware. This allows it to read input from a variety of devices and isn’t platform specific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865011-889A-2537-AD4B-2F5C20B5FBBA}"/>
              </a:ext>
            </a:extLst>
          </p:cNvPr>
          <p:cNvSpPr txBox="1">
            <a:spLocks/>
          </p:cNvSpPr>
          <p:nvPr/>
        </p:nvSpPr>
        <p:spPr>
          <a:xfrm>
            <a:off x="5854430" y="1880749"/>
            <a:ext cx="423315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Abadi" panose="020B0604020104020204" pitchFamily="34" charset="0"/>
              </a:rPr>
              <a:t>Why SDL2?</a:t>
            </a:r>
          </a:p>
          <a:p>
            <a:pPr>
              <a:buFontTx/>
              <a:buChar char="-"/>
            </a:pPr>
            <a:r>
              <a:rPr lang="en-US" b="1" dirty="0">
                <a:latin typeface="Abadi" panose="020B0604020104020204" pitchFamily="34" charset="0"/>
              </a:rPr>
              <a:t>Multiple devices: </a:t>
            </a:r>
            <a:r>
              <a:rPr lang="en-US" dirty="0">
                <a:latin typeface="Abadi" panose="020B0604020104020204" pitchFamily="34" charset="0"/>
              </a:rPr>
              <a:t>SDL can read multiple devices at the same time and are easy to distinguish via SDL id’s</a:t>
            </a:r>
          </a:p>
          <a:p>
            <a:pPr>
              <a:buFontTx/>
              <a:buChar char="-"/>
            </a:pPr>
            <a:r>
              <a:rPr lang="en-US" b="1" dirty="0">
                <a:latin typeface="Abadi" panose="020B0604020104020204" pitchFamily="34" charset="0"/>
              </a:rPr>
              <a:t>Cross platform: </a:t>
            </a:r>
            <a:r>
              <a:rPr lang="en-US" dirty="0">
                <a:latin typeface="Abadi" panose="020B0604020104020204" pitchFamily="34" charset="0"/>
              </a:rPr>
              <a:t>SDL supports numerous platforms without the hassle of using platform specific </a:t>
            </a:r>
            <a:r>
              <a:rPr lang="en-US" dirty="0" err="1">
                <a:latin typeface="Abadi" panose="020B0604020104020204" pitchFamily="34" charset="0"/>
              </a:rPr>
              <a:t>apis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238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69EE-702B-AA41-A682-8DC7EDA2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631"/>
            <a:ext cx="10515600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How I use SDL2 to read input for my project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5B1D-E2DC-AE19-61B0-253CD63E8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760"/>
            <a:ext cx="4025630" cy="748962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en-US" sz="2400" b="1" dirty="0">
                <a:latin typeface="Abadi" panose="020B0604020104020204" pitchFamily="34" charset="0"/>
              </a:rPr>
              <a:t>How a keypress event is processed</a:t>
            </a:r>
            <a:endParaRPr lang="en-GB" sz="2400" b="1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62D5B-5997-6499-A455-A166543C6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53" y="1968414"/>
            <a:ext cx="4290124" cy="4624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2E389-8E51-67F9-BC5F-A71F5E1C09E4}"/>
              </a:ext>
            </a:extLst>
          </p:cNvPr>
          <p:cNvSpPr txBox="1"/>
          <p:nvPr/>
        </p:nvSpPr>
        <p:spPr>
          <a:xfrm>
            <a:off x="5654489" y="1156447"/>
            <a:ext cx="61587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badi" panose="020B0604020104020204" pitchFamily="34" charset="0"/>
              </a:rPr>
              <a:t>Key points</a:t>
            </a:r>
            <a:br>
              <a:rPr lang="en-US" sz="2800" b="1" dirty="0">
                <a:latin typeface="Abadi" panose="020B0604020104020204" pitchFamily="34" charset="0"/>
              </a:rPr>
            </a:br>
            <a:r>
              <a:rPr lang="en-US" sz="2800" dirty="0">
                <a:latin typeface="Abadi" panose="020B0604020104020204" pitchFamily="34" charset="0"/>
              </a:rPr>
              <a:t>- input events are discovered and sent in the main program thread</a:t>
            </a:r>
          </a:p>
          <a:p>
            <a:endParaRPr lang="en-US" sz="2800" dirty="0">
              <a:latin typeface="Abadi" panose="020B0604020104020204" pitchFamily="34" charset="0"/>
            </a:endParaRPr>
          </a:p>
          <a:p>
            <a:r>
              <a:rPr lang="en-US" sz="2800" dirty="0">
                <a:latin typeface="Abadi" panose="020B0604020104020204" pitchFamily="34" charset="0"/>
              </a:rPr>
              <a:t>- Each device has a unique input translator class which is stored per game instance</a:t>
            </a:r>
          </a:p>
          <a:p>
            <a:endParaRPr lang="en-US" sz="2800" dirty="0">
              <a:latin typeface="Abadi" panose="020B0604020104020204" pitchFamily="34" charset="0"/>
            </a:endParaRPr>
          </a:p>
          <a:p>
            <a:r>
              <a:rPr lang="en-US" sz="2800" dirty="0">
                <a:latin typeface="Abadi" panose="020B0604020104020204" pitchFamily="34" charset="0"/>
              </a:rPr>
              <a:t>- The input translator class stores the current state of the device, including which keys are pressed and where the cursor is</a:t>
            </a:r>
            <a:endParaRPr lang="en-GB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007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F52C-3872-4408-1366-972E1C245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342"/>
            <a:ext cx="10515600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Major design patterns I’ve used – Event architecture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69C97-239F-A2C4-55E5-0902A5AB5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538"/>
            <a:ext cx="47389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badi" panose="020B0604020104020204" pitchFamily="34" charset="0"/>
              </a:rPr>
              <a:t>What is event architecture?</a:t>
            </a:r>
            <a:br>
              <a:rPr lang="en-US" sz="2400" b="1" dirty="0">
                <a:latin typeface="Abadi" panose="020B0604020104020204" pitchFamily="34" charset="0"/>
              </a:rPr>
            </a:br>
            <a:br>
              <a:rPr lang="en-US" sz="2400" b="1" dirty="0">
                <a:latin typeface="Abadi" panose="020B0604020104020204" pitchFamily="34" charset="0"/>
              </a:rPr>
            </a:br>
            <a:r>
              <a:rPr lang="en-US" sz="2400" dirty="0">
                <a:latin typeface="Abadi" panose="020B0604020104020204" pitchFamily="34" charset="0"/>
              </a:rPr>
              <a:t>- event architecture eliminates direct class communication and replaces it with events (like messages)</a:t>
            </a:r>
            <a:br>
              <a:rPr lang="en-US" sz="2400" dirty="0">
                <a:latin typeface="Abadi" panose="020B0604020104020204" pitchFamily="34" charset="0"/>
              </a:rPr>
            </a:br>
            <a:br>
              <a:rPr lang="en-US" sz="2400" dirty="0">
                <a:latin typeface="Abadi" panose="020B0604020104020204" pitchFamily="34" charset="0"/>
              </a:rPr>
            </a:br>
            <a:r>
              <a:rPr lang="en-US" sz="2400" dirty="0">
                <a:latin typeface="Abadi" panose="020B0604020104020204" pitchFamily="34" charset="0"/>
              </a:rPr>
              <a:t>- event queues delay events being processed until explicitly asked too, at which point the events are processed one at a time </a:t>
            </a:r>
            <a:endParaRPr lang="en-GB" sz="2400" b="1" dirty="0"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DBA1C-E6DD-B46C-0D7F-B00167E385E6}"/>
              </a:ext>
            </a:extLst>
          </p:cNvPr>
          <p:cNvSpPr txBox="1"/>
          <p:nvPr/>
        </p:nvSpPr>
        <p:spPr>
          <a:xfrm>
            <a:off x="6311153" y="1563408"/>
            <a:ext cx="504264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badi" panose="020B0604020104020204" pitchFamily="34" charset="0"/>
              </a:rPr>
              <a:t>Why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sz="2800" b="1" dirty="0">
                <a:latin typeface="Abadi" panose="020B0604020104020204" pitchFamily="34" charset="0"/>
              </a:rPr>
              <a:t>event architecture?</a:t>
            </a:r>
            <a:br>
              <a:rPr lang="en-US" sz="2800" b="1" dirty="0">
                <a:latin typeface="Abadi" panose="020B0604020104020204" pitchFamily="34" charset="0"/>
              </a:rPr>
            </a:br>
            <a:br>
              <a:rPr lang="en-US" sz="2800" b="1" dirty="0">
                <a:latin typeface="Abadi" panose="020B0604020104020204" pitchFamily="34" charset="0"/>
              </a:rPr>
            </a:br>
            <a:r>
              <a:rPr lang="en-US" sz="2800" b="1" dirty="0">
                <a:latin typeface="Abadi" panose="020B0604020104020204" pitchFamily="34" charset="0"/>
              </a:rPr>
              <a:t>Class decoupling: </a:t>
            </a:r>
            <a:r>
              <a:rPr lang="en-US" sz="2800" dirty="0">
                <a:latin typeface="Abadi" panose="020B0604020104020204" pitchFamily="34" charset="0"/>
              </a:rPr>
              <a:t>classes communicate via events without needing direct access</a:t>
            </a:r>
            <a:br>
              <a:rPr lang="en-US" sz="2800" dirty="0">
                <a:latin typeface="Abadi" panose="020B0604020104020204" pitchFamily="34" charset="0"/>
              </a:rPr>
            </a:br>
            <a:endParaRPr lang="en-US" sz="2800" dirty="0">
              <a:latin typeface="Abadi" panose="020B0604020104020204" pitchFamily="34" charset="0"/>
            </a:endParaRPr>
          </a:p>
          <a:p>
            <a:r>
              <a:rPr lang="en-US" sz="2800" b="1" dirty="0">
                <a:latin typeface="Abadi" panose="020B0604020104020204" pitchFamily="34" charset="0"/>
              </a:rPr>
              <a:t>Race condition avoidance: </a:t>
            </a:r>
            <a:r>
              <a:rPr lang="en-US" sz="2800" dirty="0">
                <a:latin typeface="Abadi" panose="020B0604020104020204" pitchFamily="34" charset="0"/>
              </a:rPr>
              <a:t>processing events one at a time through an event queue prevent 2 tasks accessing the same resource simultaneously</a:t>
            </a:r>
            <a:endParaRPr lang="en-GB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99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4D4E-B377-97A4-8B38-9884B94E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21532"/>
            <a:ext cx="10353762" cy="97045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My vision for the final version of my project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3708C-A77D-63CB-FFDE-68FE5E3D2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Full RTS game: </a:t>
            </a:r>
            <a:r>
              <a:rPr lang="en-US" sz="2400" dirty="0">
                <a:latin typeface="Abadi" panose="020B0604020104020204" pitchFamily="34" charset="0"/>
              </a:rPr>
              <a:t>implementation of a full country-based real time strategy game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</a:p>
          <a:p>
            <a:pPr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REA implementation: </a:t>
            </a:r>
            <a:r>
              <a:rPr lang="en-US" sz="2400" dirty="0">
                <a:latin typeface="Abadi" panose="020B0604020104020204" pitchFamily="34" charset="0"/>
              </a:rPr>
              <a:t>use REA (resource entity action) for fast performance when evaluating actions between entities</a:t>
            </a:r>
          </a:p>
          <a:p>
            <a:pPr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User interaction: </a:t>
            </a:r>
            <a:r>
              <a:rPr lang="en-US" sz="2400" dirty="0">
                <a:latin typeface="Abadi" panose="020B0604020104020204" pitchFamily="34" charset="0"/>
              </a:rPr>
              <a:t>feature rich interaction between players such as rivalries and treaties </a:t>
            </a:r>
          </a:p>
          <a:p>
            <a:pPr>
              <a:buFontTx/>
              <a:buChar char="-"/>
            </a:pPr>
            <a:r>
              <a:rPr lang="en-US" sz="2400" b="1" dirty="0">
                <a:latin typeface="Abadi" panose="020B0604020104020204" pitchFamily="34" charset="0"/>
              </a:rPr>
              <a:t>Clean UI: </a:t>
            </a:r>
            <a:r>
              <a:rPr lang="en-US" sz="2400" dirty="0">
                <a:latin typeface="Abadi" panose="020B0604020104020204" pitchFamily="34" charset="0"/>
              </a:rPr>
              <a:t>a simplistic UI that allows players on a controller to play at the same level as that of a keyboard</a:t>
            </a:r>
            <a:endParaRPr lang="en-US" sz="2400" b="1" dirty="0">
              <a:latin typeface="Abadi" panose="020B0604020104020204" pitchFamily="34" charset="0"/>
            </a:endParaRP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6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B819-8DC4-F929-1000-5C9E79FB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638" y="2853446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badi" panose="020B0604020104020204" pitchFamily="34" charset="0"/>
              </a:rPr>
              <a:t>Thank You!</a:t>
            </a:r>
            <a:endParaRPr lang="en-GB" sz="6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372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3280</TotalTime>
  <Words>946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Abadi</vt:lpstr>
      <vt:lpstr>Arial</vt:lpstr>
      <vt:lpstr>Calisto MT</vt:lpstr>
      <vt:lpstr>Wingdings 2</vt:lpstr>
      <vt:lpstr>Slate</vt:lpstr>
      <vt:lpstr>Henry Frodsham BSc FYP 2025-26</vt:lpstr>
      <vt:lpstr>Why concurrency matters in game development</vt:lpstr>
      <vt:lpstr>Why I chose this project</vt:lpstr>
      <vt:lpstr>An overview of my project</vt:lpstr>
      <vt:lpstr>The technical aspects of my project</vt:lpstr>
      <vt:lpstr>What’s already implemented?</vt:lpstr>
      <vt:lpstr>How I’ve implemented concurrency in my project</vt:lpstr>
      <vt:lpstr>Major technologies I’ve used - ECS</vt:lpstr>
      <vt:lpstr>example of how I use ECS in my project</vt:lpstr>
      <vt:lpstr>Major technologies I’ve used – SDL2</vt:lpstr>
      <vt:lpstr>How I use SDL2 to read input for my project</vt:lpstr>
      <vt:lpstr>Major design patterns I’ve used – Event architecture</vt:lpstr>
      <vt:lpstr>My vision for the final version of my project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Frodsham - 13C</dc:creator>
  <cp:lastModifiedBy>Henry Frodsham - 13C</cp:lastModifiedBy>
  <cp:revision>84</cp:revision>
  <dcterms:created xsi:type="dcterms:W3CDTF">2025-12-02T13:47:28Z</dcterms:created>
  <dcterms:modified xsi:type="dcterms:W3CDTF">2025-12-04T21:12:54Z</dcterms:modified>
</cp:coreProperties>
</file>